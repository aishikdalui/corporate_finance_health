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DM Sans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  <p:embeddedFont>
      <p:font typeface="Space Grotesk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0540A4-5189-4519-A55B-52FBAFFF0D05}">
  <a:tblStyle styleId="{200540A4-5189-4519-A55B-52FBAFFF0D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font" Target="fonts/DMSans-regular.fntdata"/><Relationship Id="rId20" Type="http://schemas.openxmlformats.org/officeDocument/2006/relationships/font" Target="fonts/DMSans-bold.fntdata"/><Relationship Id="rId21" Type="http://schemas.openxmlformats.org/officeDocument/2006/relationships/font" Target="fonts/DMSans-italic.fntdata"/><Relationship Id="rId22" Type="http://schemas.openxmlformats.org/officeDocument/2006/relationships/font" Target="fonts/DMSans-boldItalic.fntdata"/><Relationship Id="rId23" Type="http://schemas.openxmlformats.org/officeDocument/2006/relationships/font" Target="fonts/JetBrainsMono-regular.fntdata"/><Relationship Id="rId24" Type="http://schemas.openxmlformats.org/officeDocument/2006/relationships/font" Target="fonts/JetBrainsMono-bold.fntdata"/><Relationship Id="rId25" Type="http://schemas.openxmlformats.org/officeDocument/2006/relationships/font" Target="fonts/JetBrainsMono-italic.fntdata"/><Relationship Id="rId26" Type="http://schemas.openxmlformats.org/officeDocument/2006/relationships/font" Target="fonts/JetBrainsMono-boldItalic.fntdata"/><Relationship Id="rId27" Type="http://schemas.openxmlformats.org/officeDocument/2006/relationships/font" Target="fonts/SpaceGrotesk-regular.fntdata"/><Relationship Id="rId28" Type="http://schemas.openxmlformats.org/officeDocument/2006/relationships/font" Target="fonts/SpaceGrotesk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5600700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560070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0820400" y="6191250"/>
            <a:ext cx="6096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609600"/>
            <a:ext cx="58935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 EDGAR CIK 0000320193 · SQL FORENSIC AUDIT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058400" y="6096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27,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058441"/>
            <a:ext cx="1143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DM Sans"/>
                <a:ea typeface="DM Sans"/>
                <a:cs typeface="DM Sans"/>
                <a:sym typeface="DM Sans"/>
              </a:rPr>
              <a:t>MANAGEMENT FINANCIAL HEALTH REVIEW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2458491"/>
            <a:ext cx="970121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Apple Inc. Performance &amp; Cash Conversion (FY2007–FY2025)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028033"/>
            <a:ext cx="7524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Record profitability meets a cash conversion divergence worth investigating in FY2025.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5838825"/>
            <a:ext cx="6357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Prepared by Aishik Dalui, Data Analyst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2000" y="6076950"/>
            <a:ext cx="6357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19-Year Cross-Statement Analysis · Income Statement, Balance Sheet &amp; Cash Flow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609600" y="2224087"/>
            <a:ext cx="10972800" cy="22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09600" y="4471987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2224087"/>
            <a:ext cx="10972800" cy="190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EXECUTIVE SNAPSHOT · FY2025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Record Earnings vs. Lagging Cash Conversion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4824412"/>
            <a:ext cx="11068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Core Takeaway: Profitability reached a record high, while FY2025 operating cash flow trailed net income (−$528M) — a divergence to investigate.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2700337"/>
            <a:ext cx="3143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$416.2B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09600" y="3348037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FY2025 Revenue (+6.4%)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3614737"/>
            <a:ext cx="3143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17% annual growth since FY2007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429000" y="2700337"/>
            <a:ext cx="3143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$112.0B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429000" y="3348037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Record Net Profit (+19.5%)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429000" y="3614737"/>
            <a:ext cx="3143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26.9% net margin (19-year peak)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248400" y="2700337"/>
            <a:ext cx="3143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1.00x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248400" y="3348037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Cash Conversion Warning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248400" y="3614737"/>
            <a:ext cx="2609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OCF ($111.5B) trailed profit (−$0.53B)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067800" y="2700337"/>
            <a:ext cx="3124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−71.1d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067800" y="3348037"/>
            <a:ext cx="31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Cash Conversion Cycle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067800" y="3614737"/>
            <a:ext cx="2609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Year-end basis (−71.8d Power BI avg)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15"/>
          <p:cNvGraphicFramePr/>
          <p:nvPr/>
        </p:nvGraphicFramePr>
        <p:xfrm>
          <a:off x="609600" y="1795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{200540A4-5189-4519-A55B-52FBAFFF0D05}</a:tableStyleId>
              </a:tblPr>
              <a:tblGrid>
                <a:gridCol w="1322925"/>
                <a:gridCol w="1543500"/>
                <a:gridCol w="1396450"/>
                <a:gridCol w="1564475"/>
                <a:gridCol w="1963500"/>
                <a:gridCol w="1827025"/>
                <a:gridCol w="1354925"/>
              </a:tblGrid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Fiscal Year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Revenue ($B)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YoY Growth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Gross Margin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Operating Margin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Income ($B)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Margin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274.5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+3.6%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38.2%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24.1%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57.4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20.9%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365.8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+33.3%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41.8%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29.8%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94.7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25.9%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394.3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+7.8%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43.3%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30.3%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25.3%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383.3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A580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−2.8%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44.1%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29.8%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25.3%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391.0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+2.0%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46.2%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31.5%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A580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A580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24.0%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416.2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+6.4%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46.9%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32.0%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26.9%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01 · INCOME STATEMENT TRAJECTORY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Multi-Stage Profitability Expansion (FY2020–FY2025)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09600" y="5519737"/>
            <a:ext cx="1106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Step-Change Insight: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FY2021 marked a step-up in margins that was sustained through FY2025; FY2024 net income dipped due to a one-time $10.2B State Aid tax charge.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609600" y="2552700"/>
            <a:ext cx="4381500" cy="2667000"/>
          </a:xfrm>
          <a:prstGeom prst="roundRect">
            <a:avLst>
              <a:gd fmla="val 285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524500" y="2552700"/>
            <a:ext cx="3810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524500" y="3276600"/>
            <a:ext cx="3810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524500" y="4000500"/>
            <a:ext cx="38100" cy="4953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524500" y="4724400"/>
            <a:ext cx="38100" cy="4953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01 · MARGIN LEVERAGE (EXP2.SQL)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Margin Expansion Drives Bottom-Line Growth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28700" y="2971800"/>
            <a:ext cx="4429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5-YEAR GROSS MARGIN GAIN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28700" y="3276600"/>
            <a:ext cx="44291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+870</a:t>
            </a:r>
            <a:r>
              <a:rPr b="1" i="0" lang="en-US" sz="27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bps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28700" y="4305300"/>
            <a:ext cx="3638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Expanded from 38.2% in FY2020 to 46.9% in FY2025.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0" y="2552700"/>
            <a:ext cx="5962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Sustained Step-Up: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FY2021 marked a step-up in margins sustained through FY2025.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0" y="3276600"/>
            <a:ext cx="5962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Operating Leverage: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Operating margin reached 32.0% in FY2025 (+790 bps vs. FY2020).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0" y="4000500"/>
            <a:ext cx="5962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Profit Multiplier: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6.4% revenue growth generated 19.5% net profit growth in FY2025.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0" y="4724400"/>
            <a:ext cx="5962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Maturity Profile: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5-year revenue CAGR moderated to 8.7% vs. 17% 18-year average.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02 · CASH CONVERSION WARNING TO INVESTIGATE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FY2025 Cash Conversion Divergence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2297906" y="2528887"/>
            <a:ext cx="75961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OPERATING CASH FLOW ÷ NET INCOME RATIO (0.9953X UNROUNDED)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3952875" y="2833687"/>
            <a:ext cx="4286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1.00x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98921" y="4167187"/>
            <a:ext cx="1039415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Down from 1.26x in FY2024 (Displayed FY2021–FY2024 Range: 1.10x–1.26x)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452562" y="4538662"/>
            <a:ext cx="92868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Operating cash flow fell 5.7% to $111.48B ($528M below $112.01B net income) — a cash conversion divergence to investigate rather than poor earnings quality alone.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02 · CASH CONVERSION COMPARISON (FY2021–FY2025 SHOWN)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Operating Cash Flow vs. Net Income (FY2021–FY2025)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609600" y="2114550"/>
            <a:ext cx="5257800" cy="3581400"/>
          </a:xfrm>
          <a:prstGeom prst="roundRect">
            <a:avLst>
              <a:gd fmla="val 212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324600" y="2314575"/>
            <a:ext cx="5257800" cy="3181350"/>
          </a:xfrm>
          <a:prstGeom prst="roundRect">
            <a:avLst>
              <a:gd fmla="val 23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02 · SQL EXPERIMENT PART 14 &amp; CASH DEPLOYMENT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Cash Flow Lagged &amp; Where FY2025 Cash Went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952500" y="2457450"/>
            <a:ext cx="60007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10-K Cash Tax Reconciliation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52500" y="4552950"/>
            <a:ext cx="4667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FY2025 cash taxes paid exceeded the income tax provision by $22.65B. Prior-year State Aid Decision settlement ($10.2B FY24 charge; $15.8B escrow release) and tax-payment timing are key factors to investigate.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667500" y="2657475"/>
            <a:ext cx="5524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FY2025 Cash Deployment ($111.5B OCF)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67500" y="4752975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Buybacks and dividends consume ~95% of operating cash flow; CapEx rose from $9.4B.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52500" y="3057525"/>
            <a:ext cx="24050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FY2025 Cash Taxes Paid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724400" y="3057525"/>
            <a:ext cx="1085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$43.37B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52500" y="3543300"/>
            <a:ext cx="27265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FY2025 GAAP Tax Provision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4724400" y="3543300"/>
            <a:ext cx="1085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$20.72B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52500" y="4067175"/>
            <a:ext cx="21907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Excess Cash Tax Outflow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457700" y="4067175"/>
            <a:ext cx="13525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+$22.65B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667500" y="3257550"/>
            <a:ext cx="18811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Share Repurchases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553700" y="3257550"/>
            <a:ext cx="971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$90.7B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667500" y="37433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Dividends Paid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0553700" y="3743325"/>
            <a:ext cx="971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$15.4B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667500" y="4267200"/>
            <a:ext cx="25241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Capital Spending (+34% YoY)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0439400" y="4267200"/>
            <a:ext cx="10858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$12.7B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609600" y="2343150"/>
            <a:ext cx="2571750" cy="234315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409950" y="2343150"/>
            <a:ext cx="2571750" cy="234315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210300" y="2476500"/>
            <a:ext cx="2571750" cy="2076450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9010650" y="2476500"/>
            <a:ext cx="2571750" cy="2076450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03 · SOLVENCY &amp; CAPITAL STRUCTURE (EXP2.SQL)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Balance Sheet De-Risking &amp; Liquidity Context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09600" y="4953000"/>
            <a:ext cx="11068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Liquidity Context: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Negative working capital reflects Apple's current-liability structure; assess supplier terms alongside cash, marketable securities ($132.4B combined), and operating cash flow.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38200" y="2647950"/>
            <a:ext cx="26431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$73.7B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38200" y="3314700"/>
            <a:ext cx="232029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Stockholders' Equity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38200" y="39243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29.5% equity expansion in FY2025.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3638550" y="2647950"/>
            <a:ext cx="26431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$132.4B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3638550" y="3314700"/>
            <a:ext cx="232029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Total Liquid Resources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3638550" y="39243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$35.9B cash plus marketable securities.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438900" y="2781300"/>
            <a:ext cx="26431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3.9x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438900" y="3448050"/>
            <a:ext cx="27753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Liabilities-to-Equity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438900" y="379095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Down sharply from 5.4x in FY2024.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239250" y="2781300"/>
            <a:ext cx="26431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0.89x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9239250" y="3448050"/>
            <a:ext cx="27753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Ratio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239250" y="379095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−$17.7B net working capital balance.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09600" y="2571750"/>
            <a:ext cx="2357437" cy="1809750"/>
          </a:xfrm>
          <a:prstGeom prst="roundRect">
            <a:avLst>
              <a:gd fmla="val 421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481387" y="2571750"/>
            <a:ext cx="2357437" cy="1809750"/>
          </a:xfrm>
          <a:prstGeom prst="roundRect">
            <a:avLst>
              <a:gd fmla="val 421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353175" y="2571750"/>
            <a:ext cx="2357437" cy="1809750"/>
          </a:xfrm>
          <a:prstGeom prst="roundRect">
            <a:avLst>
              <a:gd fmla="val 421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9224962" y="2571750"/>
            <a:ext cx="2357437" cy="1809750"/>
          </a:xfrm>
          <a:prstGeom prst="roundRect">
            <a:avLst>
              <a:gd fmla="val 421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9437" y="3362325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1225" y="3362325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3012" y="3362325"/>
            <a:ext cx="2095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04 · WORKING CAPITAL VELOCITY (YEAR-END VS. POWER BI BASIS)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Cash Conversion Cycle Mechanics (FY2025)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09600" y="4724400"/>
            <a:ext cx="11068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Interpretation: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Negative cash conversion cycle of approximately 71 days suggests supplier credit helps finance Apple's operating cycle.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38200" y="2838450"/>
            <a:ext cx="23752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INVENTORY (DIO)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38200" y="3086100"/>
            <a:ext cx="23752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9.4d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38200" y="3714750"/>
            <a:ext cx="1995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Year-end (10.74d Power BI avg)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709987" y="2838450"/>
            <a:ext cx="23752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RECEIVABLES (DSO)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3709987" y="3086100"/>
            <a:ext cx="23752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34.9d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709987" y="3714750"/>
            <a:ext cx="1995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Year-end (32.09d Power BI avg)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581775" y="2838450"/>
            <a:ext cx="23752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PAYABLES (DPO)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581775" y="3086100"/>
            <a:ext cx="23752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115.4d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581775" y="3714750"/>
            <a:ext cx="1995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Year-end (114.6d Power BI avg)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453562" y="2838450"/>
            <a:ext cx="23752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NET CYCLE (CCC)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453562" y="3086100"/>
            <a:ext cx="23752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−71.1d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453562" y="3714750"/>
            <a:ext cx="1995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Year-end (−71.82d Power BI avg)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609600" y="1676400"/>
            <a:ext cx="10972800" cy="3810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22"/>
          <p:cNvGraphicFramePr/>
          <p:nvPr/>
        </p:nvGraphicFramePr>
        <p:xfrm>
          <a:off x="6096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{200540A4-5189-4519-A55B-52FBAFFF0D05}</a:tableStyleId>
              </a:tblPr>
              <a:tblGrid>
                <a:gridCol w="1267125"/>
                <a:gridCol w="2693050"/>
                <a:gridCol w="2190900"/>
                <a:gridCol w="2560150"/>
                <a:gridCol w="2261600"/>
              </a:tblGrid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Fiscal Year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Days to Collect (DSO)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Days to Sell Stock (DIO)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Days to Pay Suppliers (DPO)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Cash Conversion Cycle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26.2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11.3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93.9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−56.4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26.1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8.1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104.7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−70.5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EA580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28.1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10.8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106.7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−67.8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EA580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31.2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12.6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119.7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−75.8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FY2025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EA580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34.9 days (+8.8d vs FY22)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9.4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EA580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115.4 days (−4.3d YoY)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−71.1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04 · YEAR-END BALANCE SERIES VS. POWER BI RECONCILIATION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Customer Collection Is Slowing (FY2022–FY2025)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09600" y="5676900"/>
            <a:ext cx="11068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Methodology Reconciliation: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Table uses year-end balances (34.9 + 9.4 − 115.4 = −71.1d). Power BI &amp; SQL 2-year average balances yield FY2025 DSO = 32.09d, DIO = 10.74d, DPO = 114.6d, CCC = −71.82d.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609600" y="2400300"/>
            <a:ext cx="5334000" cy="1333500"/>
          </a:xfrm>
          <a:prstGeom prst="roundRect">
            <a:avLst>
              <a:gd fmla="val 571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248400" y="2400300"/>
            <a:ext cx="5334000" cy="1333500"/>
          </a:xfrm>
          <a:prstGeom prst="roundRect">
            <a:avLst>
              <a:gd fmla="val 571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609600" y="4038600"/>
            <a:ext cx="5334000" cy="1333500"/>
          </a:xfrm>
          <a:prstGeom prst="roundRect">
            <a:avLst>
              <a:gd fmla="val 571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6248400" y="4038600"/>
            <a:ext cx="5334000" cy="1333500"/>
          </a:xfrm>
          <a:prstGeom prst="roundRect">
            <a:avLst>
              <a:gd fmla="val 571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27051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0" y="27051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434340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5100" y="434340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05 · DATA ENGINEERING &amp; SCOPE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Architecture, Cleaning &amp; Analytical Boundaries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304925" y="2667000"/>
            <a:ext cx="57382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 EDGAR &amp; MySQL Pipeline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304925" y="3009900"/>
            <a:ext cx="4467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Filtered 350–380 day annual 10-K filings (FY2007–FY2025) with least-privilege Power BI read access.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972300" y="2667000"/>
            <a:ext cx="521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$132.4B Combined Liquidity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972300" y="3009900"/>
            <a:ext cx="4438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Table cash ($35.9B) excludes marketable securities; total liquid resources reached $132.4B.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266825" y="4305300"/>
            <a:ext cx="57882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Year-End vs. Power BI Averages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266825" y="4648200"/>
            <a:ext cx="4505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Slides 9–10 show year-end CCC (−71.1d) alongside 2-year average Power BI results (−71.82d).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943725" y="4305300"/>
            <a:ext cx="5248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Filing &amp; Calendar Anomalies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943725" y="4648200"/>
            <a:ext cx="4467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FY2015 D&amp;A tag missing in XBRL source; FY2012 and FY2017 reflect 53-week fiscal calendars.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/>
          <p:nvPr/>
        </p:nvSpPr>
        <p:spPr>
          <a:xfrm>
            <a:off x="1143000" y="2471737"/>
            <a:ext cx="4838700" cy="1162050"/>
          </a:xfrm>
          <a:prstGeom prst="roundRect">
            <a:avLst>
              <a:gd fmla="val 655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6210300" y="2471737"/>
            <a:ext cx="4838700" cy="1162050"/>
          </a:xfrm>
          <a:prstGeom prst="roundRect">
            <a:avLst>
              <a:gd fmla="val 655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1143000" y="3862387"/>
            <a:ext cx="4838700" cy="1162050"/>
          </a:xfrm>
          <a:prstGeom prst="roundRect">
            <a:avLst>
              <a:gd fmla="val 655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210300" y="3862387"/>
            <a:ext cx="4838700" cy="1162050"/>
          </a:xfrm>
          <a:prstGeom prst="roundRect">
            <a:avLst>
              <a:gd fmla="val 655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4524375" y="1252537"/>
            <a:ext cx="3143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 PLAN &amp; NEXT STEPS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026616" y="1557337"/>
            <a:ext cx="1013876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 Priorities for Executive Management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2643187" y="5405437"/>
            <a:ext cx="6905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Questions &amp; Discussion · Corporate Financial Health Review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1409700" y="2700337"/>
            <a:ext cx="538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CASH CONVERSION AUDIT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1409700" y="2928937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Audit FY2025 10-K tax &amp; working capital notes ($43.4B cash taxes paid).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477000" y="2700337"/>
            <a:ext cx="538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RECEIVABLES MONITORING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477000" y="2928937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Investigate DSO creep from 26.1 to 34.9 days across carrier/channel partners.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1409700" y="4090987"/>
            <a:ext cx="538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DASHBOARD CADENCE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1409700" y="4319587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Add quarterly OCF-to-Net Income tracking to the Power BI executive review.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477000" y="4090987"/>
            <a:ext cx="538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PEER BENCHMARKING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477000" y="4319587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Contextualize 0.89x current ratio and benchmark CCC against mega-cap tech peers.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